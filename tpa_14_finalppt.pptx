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png" ContentType="image/png"/>
  <Override PartName="/ppt/media/image9.jpeg" ContentType="image/jpeg"/>
  <Override PartName="/ppt/media/image3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1.jpeg" ContentType="image/jpeg"/>
  <Override PartName="/ppt/media/image10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B08FC67-E4C5-4585-B799-FFDDA736EAE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A58261-46CD-4971-B08D-076E754AEFF0}" type="slidenum">
              <a:rPr b="0" lang="en-IN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530C2C-DA32-4AF3-B2C2-616F2D416CBB}" type="slidenum">
              <a:rPr b="0" lang="en-IN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6D133B-4BDE-4F92-9F8E-37DB8B55B991}" type="slidenum">
              <a:rPr b="0" lang="en-IN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F1A820-E377-46AB-BEC6-C06A249860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89944A-1198-4BB0-AC11-BDF08D34E9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3520F4-3949-4835-BF27-165144A73B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235C19-F9A3-4B8A-AC15-EE86A60202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33DC95-FE09-43BD-9744-C494FB69D0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677160" y="609480"/>
            <a:ext cx="8596440" cy="612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662F17-F555-4CA6-8DC6-9E423C0279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77160" y="41875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455A88-3CA8-4E40-BD37-F7371FB5D3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5082120" y="41875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961EF0-984D-45CA-A83C-7E1161B83F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77160" y="4187520"/>
            <a:ext cx="859644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12CFDD-BDFC-4ECF-BFCD-9551460344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77160" y="4187520"/>
            <a:ext cx="859644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84392C-FA5E-456D-B123-BDF88FA2E6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77160" y="41875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/>
          </p:nvPr>
        </p:nvSpPr>
        <p:spPr>
          <a:xfrm>
            <a:off x="5082120" y="41875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096638-632C-42AF-854D-5553A68833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3583440" y="21607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490080" y="21607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/>
          </p:nvPr>
        </p:nvSpPr>
        <p:spPr>
          <a:xfrm>
            <a:off x="677160" y="41875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/>
          </p:nvPr>
        </p:nvSpPr>
        <p:spPr>
          <a:xfrm>
            <a:off x="3583440" y="41875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/>
          </p:nvPr>
        </p:nvSpPr>
        <p:spPr>
          <a:xfrm>
            <a:off x="6490080" y="41875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A060ED-2345-4BC1-A539-98F35F5BF6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A42196-FBFD-437B-B204-35DF747171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5BE7B6-870A-4C30-83E6-83CA0DCB3F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03AC6F-504D-4765-B406-5D90F004EC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10A302-ECE9-43A2-A6FF-41CA5D0D28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539182-1BEB-4231-9458-7EB0A9333F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677160" y="609480"/>
            <a:ext cx="8596440" cy="612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57D358-8D8F-45C5-8CC5-B45AB5563F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677160" y="41875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9086A4-54DC-4F65-82A8-028F867641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5082120" y="41875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AEDEBD-CC88-4FB4-9537-EFBA6086EA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77160" y="4187520"/>
            <a:ext cx="859644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C531D5-086E-4194-A9A6-16A87C9CCD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77160" y="4187520"/>
            <a:ext cx="859644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47A384-D874-4BB6-BFE6-360184C42D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77160" y="41875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/>
          </p:nvPr>
        </p:nvSpPr>
        <p:spPr>
          <a:xfrm>
            <a:off x="5082120" y="4187520"/>
            <a:ext cx="419472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53F6F2-E1F3-4F6B-97E9-D5EB119859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3583440" y="21607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490080" y="21607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677160" y="41875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/>
          </p:nvPr>
        </p:nvSpPr>
        <p:spPr>
          <a:xfrm>
            <a:off x="3583440" y="41875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/>
          </p:nvPr>
        </p:nvSpPr>
        <p:spPr>
          <a:xfrm>
            <a:off x="6490080" y="4187520"/>
            <a:ext cx="2767680" cy="185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11FF91-B17F-4D02-833C-A155B7C8B1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grpSp>
        <p:nvGrpSpPr>
          <p:cNvPr id="11" name="Group 15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2" name="Freeform 14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3" name="Straight Connector 18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" name="Straight Connector 19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2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21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rgbClr val="5fcbef"/>
                </a:solidFill>
                <a:latin typeface="Trebuchet MS"/>
              </a:rPr>
              <a:t>Click to edit Master title style</a:t>
            </a:r>
            <a:endParaRPr b="0" lang="en-US" sz="54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900" spc="-1" strike="noStrike">
                <a:solidFill>
                  <a:srgbClr val="8b8b8b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rgbClr val="8b8b8b"/>
                </a:solidFill>
                <a:latin typeface="Trebuchet M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900" spc="-1" strike="noStrike">
                <a:solidFill>
                  <a:srgbClr val="5fcbef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A6FB2D-7B84-437F-921A-3D489ECF0986}" type="slidenum">
              <a:rPr b="0" lang="en-IN" sz="900" spc="-1" strike="noStrike">
                <a:solidFill>
                  <a:srgbClr val="5fcbef"/>
                </a:solidFill>
                <a:latin typeface="Trebuchet M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64" name="Straight Connector 19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5" name="Straight Connector 20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6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6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6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900" spc="-1" strike="noStrike">
                <a:solidFill>
                  <a:srgbClr val="8b8b8b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rgbClr val="8b8b8b"/>
                </a:solidFill>
                <a:latin typeface="Trebuchet M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900" spc="-1" strike="noStrike">
                <a:solidFill>
                  <a:srgbClr val="5fcbef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D2E622-DFDD-41BA-8A22-2792D62DDA9A}" type="slidenum">
              <a:rPr b="0" lang="en-IN" sz="900" spc="-1" strike="noStrike">
                <a:solidFill>
                  <a:srgbClr val="5fcbef"/>
                </a:solidFill>
                <a:latin typeface="Trebuchet M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776160" y="73692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LIST OF CHANGES</a:t>
            </a: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77160" y="2057400"/>
            <a:ext cx="6409440" cy="111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Slide 10,11,12,13 – Results for Classification added along with testing time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Slide 16 – Results for edge detection added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33840" y="1782000"/>
            <a:ext cx="8281440" cy="1992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0f7698"/>
                </a:solidFill>
                <a:latin typeface="Arial"/>
              </a:rPr>
              <a:t>Student Distillation for high-end compute-intensive DL process to run on low-end GPU</a:t>
            </a:r>
            <a:endParaRPr b="0" lang="en-US" sz="40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448280" y="5076000"/>
            <a:ext cx="7766640" cy="1096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808080"/>
                </a:solidFill>
                <a:latin typeface="Trebuchet MS"/>
              </a:rPr>
              <a:t>Suryaa Thirumurugan (EE23B077) </a:t>
            </a:r>
            <a:endParaRPr b="0" lang="en-US" sz="18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808080"/>
                </a:solidFill>
                <a:latin typeface="Trebuchet MS"/>
              </a:rPr>
              <a:t>Shree Hari MG (ME23B201)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647720" y="3774960"/>
            <a:ext cx="77666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f7698"/>
                </a:solidFill>
                <a:latin typeface="Trebuchet MS"/>
              </a:rPr>
              <a:t>- CS6350 – TPA - 14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33920" y="0"/>
            <a:ext cx="8596440" cy="100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f7698"/>
                </a:solidFill>
                <a:latin typeface="fkGroteskNeue"/>
              </a:rPr>
              <a:t>Problem Statement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363960" y="722160"/>
            <a:ext cx="7546320" cy="594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fkGroteskNeue"/>
              </a:rPr>
              <a:t>Deep learning models (ResNet101, HRNet) achieve high accuracy but are too large for edge devices</a:t>
            </a:r>
            <a:endParaRPr b="0" lang="en-US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Trebuchet MS"/>
              </a:rPr>
              <a:t>Deploying these large models on </a:t>
            </a:r>
            <a:r>
              <a:rPr b="1" lang="en-US" sz="2400" spc="-1" strike="noStrike">
                <a:solidFill>
                  <a:srgbClr val="000000"/>
                </a:solidFill>
                <a:latin typeface="Trebuchet MS"/>
              </a:rPr>
              <a:t>mobile and embedded edge devices</a:t>
            </a:r>
            <a:r>
              <a:rPr b="0" lang="en-US" sz="2400" spc="-1" strike="noStrike">
                <a:solidFill>
                  <a:srgbClr val="000000"/>
                </a:solidFill>
                <a:latin typeface="Trebuchet MS"/>
              </a:rPr>
              <a:t> is difficult due to:</a:t>
            </a:r>
            <a:endParaRPr b="0" lang="en-US" sz="2400" spc="-1" strike="noStrike">
              <a:latin typeface="Arial"/>
            </a:endParaRPr>
          </a:p>
          <a:p>
            <a:pPr lvl="2" marL="12002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Trebuchet MS"/>
              </a:rPr>
              <a:t>Limited memory</a:t>
            </a:r>
            <a:endParaRPr b="0" lang="en-US" sz="2400" spc="-1" strike="noStrike">
              <a:latin typeface="Arial"/>
            </a:endParaRPr>
          </a:p>
          <a:p>
            <a:pPr lvl="2" marL="12002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Trebuchet MS"/>
              </a:rPr>
              <a:t>Low compute power</a:t>
            </a:r>
            <a:endParaRPr b="0" lang="en-US" sz="2400" spc="-1" strike="noStrike">
              <a:latin typeface="Arial"/>
            </a:endParaRPr>
          </a:p>
          <a:p>
            <a:pPr lvl="2" marL="12002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Trebuchet MS"/>
              </a:rPr>
              <a:t>Power constraints</a:t>
            </a:r>
            <a:endParaRPr b="0" lang="en-US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rebuchet MS"/>
              </a:rPr>
              <a:t>Core Trade-off</a:t>
            </a:r>
            <a:endParaRPr b="0" lang="en-US" sz="2400" spc="-1" strike="noStrike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Trebuchet MS"/>
              </a:rPr>
              <a:t>High Accuracy</a:t>
            </a:r>
            <a:r>
              <a:rPr b="0" lang="en-US" sz="2400" spc="-1" strike="noStrike">
                <a:solidFill>
                  <a:srgbClr val="000000"/>
                </a:solidFill>
                <a:latin typeface="Trebuchet MS"/>
              </a:rPr>
              <a:t> ⟺ </a:t>
            </a:r>
            <a:r>
              <a:rPr b="1" lang="en-US" sz="2400" spc="-1" strike="noStrike">
                <a:solidFill>
                  <a:srgbClr val="000000"/>
                </a:solidFill>
                <a:latin typeface="Trebuchet MS"/>
              </a:rPr>
              <a:t>Model Efficiency</a:t>
            </a:r>
            <a:endParaRPr b="0" lang="en-US" sz="2400" spc="-1" strike="noStrike">
              <a:latin typeface="Arial"/>
            </a:endParaRPr>
          </a:p>
          <a:p>
            <a:pPr marL="9144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Trebuchet MS"/>
              </a:rPr>
              <a:t>Need a way to </a:t>
            </a:r>
            <a:r>
              <a:rPr b="1" lang="en-US" sz="2400" spc="-1" strike="noStrike">
                <a:solidFill>
                  <a:srgbClr val="000000"/>
                </a:solidFill>
                <a:latin typeface="Trebuchet MS"/>
              </a:rPr>
              <a:t>compress models</a:t>
            </a:r>
            <a:r>
              <a:rPr b="0" lang="en-US" sz="2400" spc="-1" strike="noStrike">
                <a:solidFill>
                  <a:srgbClr val="000000"/>
                </a:solidFill>
                <a:latin typeface="Trebuchet MS"/>
              </a:rPr>
              <a:t> without losing performance.</a:t>
            </a:r>
            <a:endParaRPr b="0" lang="en-US" sz="24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128" name="Picture 9" descr=""/>
          <p:cNvPicPr/>
          <p:nvPr/>
        </p:nvPicPr>
        <p:blipFill>
          <a:blip r:embed="rId1"/>
          <a:stretch/>
        </p:blipFill>
        <p:spPr>
          <a:xfrm>
            <a:off x="2536560" y="4746960"/>
            <a:ext cx="5862600" cy="195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f7698"/>
                </a:solidFill>
                <a:latin typeface="Trebuchet MS"/>
              </a:rPr>
              <a:t>What is Student Distillation?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92120" y="148860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21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9600" spc="-1" strike="noStrike">
                <a:solidFill>
                  <a:srgbClr val="404040"/>
                </a:solidFill>
                <a:latin typeface="Trebuchet MS"/>
              </a:rPr>
              <a:t>Teacher Network</a:t>
            </a:r>
            <a:br>
              <a:rPr sz="9600"/>
            </a:br>
            <a:r>
              <a:rPr b="0" lang="en-US" sz="9600" spc="-1" strike="noStrike">
                <a:solidFill>
                  <a:srgbClr val="404040"/>
                </a:solidFill>
                <a:latin typeface="Trebuchet MS"/>
              </a:rPr>
              <a:t>A large, highly accurate, pre-trained model.</a:t>
            </a:r>
            <a:endParaRPr b="0" lang="en-US" sz="9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9600" spc="-1" strike="noStrike">
                <a:solidFill>
                  <a:srgbClr val="404040"/>
                </a:solidFill>
                <a:latin typeface="Trebuchet MS"/>
              </a:rPr>
              <a:t>Student Network</a:t>
            </a:r>
            <a:br>
              <a:rPr sz="9600"/>
            </a:br>
            <a:r>
              <a:rPr b="0" lang="en-US" sz="9600" spc="-1" strike="noStrike">
                <a:solidFill>
                  <a:srgbClr val="404040"/>
                </a:solidFill>
                <a:latin typeface="Trebuchet MS"/>
              </a:rPr>
              <a:t>A much smaller, efficient model designed for deployment.</a:t>
            </a:r>
            <a:endParaRPr b="0" lang="en-US" sz="9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9600" spc="-1" strike="noStrike">
                <a:solidFill>
                  <a:srgbClr val="404040"/>
                </a:solidFill>
                <a:latin typeface="Trebuchet MS"/>
              </a:rPr>
              <a:t>Soft Knowledge Transfer</a:t>
            </a:r>
            <a:br>
              <a:rPr sz="9600"/>
            </a:br>
            <a:r>
              <a:rPr b="0" lang="en-US" sz="9600" spc="-1" strike="noStrike">
                <a:solidFill>
                  <a:srgbClr val="404040"/>
                </a:solidFill>
                <a:latin typeface="Trebuchet MS"/>
              </a:rPr>
              <a:t>The teacher generates </a:t>
            </a:r>
            <a:r>
              <a:rPr b="1" lang="en-US" sz="9600" spc="-1" strike="noStrike">
                <a:solidFill>
                  <a:srgbClr val="404040"/>
                </a:solidFill>
                <a:latin typeface="Trebuchet MS"/>
              </a:rPr>
              <a:t>soft targets</a:t>
            </a:r>
            <a:r>
              <a:rPr b="0" lang="en-US" sz="9600" spc="-1" strike="noStrike">
                <a:solidFill>
                  <a:srgbClr val="404040"/>
                </a:solidFill>
                <a:latin typeface="Trebuchet MS"/>
              </a:rPr>
              <a:t> (probabilities with temperature scaling), which contain richer information than hard labels.</a:t>
            </a:r>
            <a:endParaRPr b="0" lang="en-US" sz="9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9600" spc="-1" strike="noStrike">
                <a:solidFill>
                  <a:srgbClr val="0f7698"/>
                </a:solidFill>
                <a:latin typeface="Trebuchet MS"/>
              </a:rPr>
              <a:t>Goal</a:t>
            </a:r>
            <a:br>
              <a:rPr sz="9600"/>
            </a:br>
            <a:r>
              <a:rPr b="0" lang="en-US" sz="9600" spc="-1" strike="noStrike">
                <a:solidFill>
                  <a:srgbClr val="404040"/>
                </a:solidFill>
                <a:latin typeface="Trebuchet MS"/>
              </a:rPr>
              <a:t>Train the student to </a:t>
            </a:r>
            <a:r>
              <a:rPr b="1" lang="en-US" sz="9600" spc="-1" strike="noStrike">
                <a:solidFill>
                  <a:srgbClr val="404040"/>
                </a:solidFill>
                <a:latin typeface="Trebuchet MS"/>
              </a:rPr>
              <a:t>mimic the teacher’s decision boundaries</a:t>
            </a:r>
            <a:r>
              <a:rPr b="0" lang="en-US" sz="9600" spc="-1" strike="noStrike">
                <a:solidFill>
                  <a:srgbClr val="404040"/>
                </a:solidFill>
                <a:latin typeface="Trebuchet MS"/>
              </a:rPr>
              <a:t>, improving accuracy compared to training from scratch.</a:t>
            </a:r>
            <a:endParaRPr b="0" lang="en-US" sz="9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69160" y="172080"/>
            <a:ext cx="8596440" cy="530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IN" sz="2800" spc="-1" strike="noStrike">
                <a:solidFill>
                  <a:srgbClr val="5fcbef"/>
                </a:solidFill>
                <a:latin typeface="Trebuchet MS"/>
              </a:rPr>
              <a:t>Architecture Diagram :</a:t>
            </a: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37920" y="739800"/>
            <a:ext cx="8596440" cy="5378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IN" sz="2000" spc="-1" strike="noStrike">
                <a:solidFill>
                  <a:srgbClr val="404040"/>
                </a:solidFill>
                <a:latin typeface="Trebuchet MS"/>
              </a:rPr>
              <a:t>Teacher Model → Soft Targets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Arial"/>
              <a:buChar char="•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Outputs probability distribution softened using temperature </a:t>
            </a:r>
            <a:r>
              <a:rPr b="1" lang="en-IN" sz="2000" spc="-1" strike="noStrike">
                <a:solidFill>
                  <a:srgbClr val="404040"/>
                </a:solidFill>
                <a:latin typeface="Trebuchet MS"/>
              </a:rPr>
              <a:t>T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Arial"/>
              <a:buChar char="•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Contains inter-class relationships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IN" sz="2000" spc="-1" strike="noStrike">
                <a:solidFill>
                  <a:srgbClr val="404040"/>
                </a:solidFill>
                <a:latin typeface="Trebuchet MS"/>
              </a:rPr>
              <a:t>Student Model → Learns From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Arial"/>
              <a:buChar char="•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Soft targets from Teacher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Arial"/>
              <a:buChar char="•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Hard labels from dataset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IN" sz="2000" spc="-1" strike="noStrike">
                <a:solidFill>
                  <a:srgbClr val="404040"/>
                </a:solidFill>
                <a:latin typeface="Trebuchet MS"/>
              </a:rPr>
              <a:t>Loss Function Illustration: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Where: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Arial"/>
              <a:buChar char="•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: Knowledge distillation loss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Arial"/>
              <a:buChar char="•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: Cross-entropy loss (hard labels)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Arial"/>
              <a:buChar char="•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: Balance factor (0–1)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3920" y="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5fcbef"/>
                </a:solidFill>
                <a:latin typeface="Trebuchet MS"/>
              </a:rPr>
              <a:t>LOSSES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93960" y="574560"/>
            <a:ext cx="10034640" cy="6283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Task 1: Standard Knowledge Distillation with ResNet101 Teacher (Classification)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Loss functions used: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Distillation Loss (KL Divergence): Measures the divergence between teacher and student softened outputs (temperature-scaled).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Cross-Entropy Loss: Standard hard-label loss on student predictions.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Combined Loss: </a:t>
            </a:r>
            <a:br>
              <a:rPr sz="1800"/>
            </a:b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where , 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Task 2A: Image Restoration Through Knowledge Distillation (Super-Resolution)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Loss functions used: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L1 Reconstruction Loss: Pixel-wise  distance between student output and ground truth.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Teacher Feature Matching Loss:  distance between intermediate teacher and student feature maps.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Perceptual Loss: Distance between VGG feature representations to capture perceptual similarity.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Combined Objective:</a:t>
            </a:r>
            <a:br>
              <a:rPr sz="1800"/>
            </a:br>
            <a:br>
              <a:rPr sz="1800"/>
            </a:b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Task 2B: Edge Detection Through Knowledge Distillation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Loss functions used: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Hard Target Loss: Weighted binary cross-entropy with position weight (e.g., 10.0) to handle class imbalance.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600" spc="-1" strike="noStrike">
                <a:solidFill>
                  <a:srgbClr val="404040"/>
                </a:solidFill>
                <a:latin typeface="Trebuchet MS"/>
              </a:rPr>
              <a:t>Soft Target Loss: Mean squared error (MSE) between sigmoid-activated teacher and student probability maps.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Combined Objective: Balanced with  between hard and soft supervision losses.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19400" y="27972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f7698"/>
                </a:solidFill>
                <a:latin typeface="Trebuchet MS"/>
              </a:rPr>
              <a:t>Task 1 - Image Classification (CIFAR-100)</a:t>
            </a:r>
            <a:br>
              <a:rPr sz="3600"/>
            </a:b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19400" y="1488600"/>
            <a:ext cx="8596440" cy="5158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IN" sz="2200" spc="-1" strike="noStrike">
                <a:solidFill>
                  <a:srgbClr val="404040"/>
                </a:solidFill>
                <a:latin typeface="Trebuchet MS"/>
              </a:rPr>
              <a:t>Setup</a:t>
            </a: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: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"/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Teacher: ResNet101 (44.5M params, 79.91% acc)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"/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Student: MobileNetV2 (3.5M params)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"/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Training: T=4.0, </a:t>
            </a:r>
            <a:r>
              <a:rPr b="0" lang="el-GR" sz="1900" spc="-1" strike="noStrike">
                <a:solidFill>
                  <a:srgbClr val="404040"/>
                </a:solidFill>
                <a:latin typeface="Trebuchet MS"/>
              </a:rPr>
              <a:t>α=0.9, 200 </a:t>
            </a: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epochs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IN" sz="2200" spc="-1" strike="noStrike">
                <a:solidFill>
                  <a:srgbClr val="404040"/>
                </a:solidFill>
                <a:latin typeface="Trebuchet MS"/>
              </a:rPr>
              <a:t>Key Result</a:t>
            </a: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: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"/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Student achieves 69.02% (vs. 60-65% baseline)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"/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12.7× compression ratio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" charset="2"/>
              <a:buChar char=""/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~5-9% improvement with KD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Model         | Accuracy | Params | Compression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ResNet101     | 79.91%   | 44.5M  | 1×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1900" spc="-1" strike="noStrike">
                <a:solidFill>
                  <a:srgbClr val="404040"/>
                </a:solidFill>
                <a:latin typeface="Trebuchet MS"/>
              </a:rPr>
              <a:t>MobileNetV2   | 69.02%   | 3.5M   | 12.7×</a:t>
            </a:r>
            <a:endParaRPr b="0" lang="en-US" sz="19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38240" y="156240"/>
            <a:ext cx="8596440" cy="570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2800" spc="-1" strike="noStrike">
                <a:solidFill>
                  <a:srgbClr val="0f7698"/>
                </a:solidFill>
                <a:latin typeface="Trebuchet MS"/>
              </a:rPr>
              <a:t>Task 3: Progressive Multi-Generation Distillation</a:t>
            </a:r>
            <a:br>
              <a:rPr sz="2800"/>
            </a:b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293040" y="1395000"/>
            <a:ext cx="8980560" cy="464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Multi-stage compression: Instead of distilling once from a huge teacher → tiny student, knowledge is transferred gradually through several smaller intermediate models.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Reduced capacity gap: Each student is only slightly smaller than its teacher, making learning easier and reducing the risk of information loss.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Improved stability: Smaller steps between generations improve convergence and reduce training instability common in single-stage distillation.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Better knowledge retention: Each generation preserves the teacher’s decision boundaries more effectively, enabling the final tiny student to maintain higher accuracy.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Extreme compression possible: By repeating distillation over multiple stages, the model can be shrunk to a very small size while still keeping useful performance.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Each smaller student is trained using combined 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 from its immediate teacher.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Hyperparameters match Task 1: mostly KL divergence plus cross-entropy with temperature  and .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38240" y="644760"/>
            <a:ext cx="819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f7698"/>
                </a:solidFill>
                <a:latin typeface="Trebuchet MS"/>
              </a:rPr>
              <a:t>Recursively applies the combined distillation loss from Task 1 across generations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14480" y="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5fcbef"/>
                </a:solidFill>
                <a:latin typeface="Trebuchet MS"/>
              </a:rPr>
              <a:t>Progressive Distillation Results — Key Observations</a:t>
            </a: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234360" y="926280"/>
            <a:ext cx="9588960" cy="5779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00"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Generation 1 (Teacher → Student)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Accuracy: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79.91%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Parameters: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44.5M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Acts as the strong baseline model before compression.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Generation 2 (Student of Gen-1 = Teacher for Gen-3)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Accuracy drops to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69.02%</a:t>
            </a: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, but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Model shrinks dramatically to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2.35M parameters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Achieves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19× compression</a:t>
            </a: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 with still usable performance.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Generation 3 (Final Tiny Student)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Accuracy remains relatively high at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67.87%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Model size reduced to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0.82M parameters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Achieves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54× compression</a:t>
            </a: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 compared to the original.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Overall Insight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Despite extreme compression (from 44.5M → 0.82M), accuracy decreases only ~12%.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Progressive distillation enables </a:t>
            </a:r>
            <a:r>
              <a:rPr b="1" lang="en-US" sz="1600" spc="-1" strike="noStrike">
                <a:solidFill>
                  <a:srgbClr val="404040"/>
                </a:solidFill>
                <a:latin typeface="Trebuchet MS"/>
              </a:rPr>
              <a:t>massive size reduction with controlled accuracy loss</a:t>
            </a: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.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23840" y="10152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5fcbef"/>
                </a:solidFill>
                <a:latin typeface="Trebuchet MS"/>
              </a:rPr>
              <a:t>Results</a:t>
            </a:r>
            <a:r>
              <a:rPr b="1" lang="en-US" sz="3600" spc="-1" strike="noStrike">
                <a:solidFill>
                  <a:srgbClr val="5fcbef"/>
                </a:solidFill>
                <a:latin typeface="Trebuchet MS"/>
              </a:rPr>
              <a:t> - (Time and Accuracy)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677160" y="1487520"/>
            <a:ext cx="11517480" cy="388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000"/>
          </a:bodyPr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----------------------------------------------------------------------------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Trebuchet MS"/>
              </a:rPr>
              <a:t>Model Name  </a:t>
            </a:r>
            <a:r>
              <a:rPr b="0" lang="en-US" sz="2400" spc="-1" strike="noStrike">
                <a:solidFill>
                  <a:srgbClr val="5fcbef"/>
                </a:solidFill>
                <a:latin typeface="Trebuchet MS"/>
                <a:ea typeface="Trebuchet MS"/>
              </a:rPr>
              <a:t>  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                          |</a:t>
            </a:r>
            <a:r>
              <a:rPr b="1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 </a:t>
            </a: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Trebuchet MS"/>
              </a:rPr>
              <a:t>Accuracy</a:t>
            </a:r>
            <a:r>
              <a:rPr b="0" lang="en-US" sz="2400" spc="-1" strike="noStrike">
                <a:solidFill>
                  <a:srgbClr val="5fcbef"/>
                </a:solidFill>
                <a:latin typeface="Trebuchet MS"/>
                <a:ea typeface="Trebuchet MS"/>
              </a:rPr>
              <a:t> 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|</a:t>
            </a:r>
            <a:r>
              <a:rPr b="0" lang="en-US" sz="2400" spc="-1" strike="noStrike">
                <a:solidFill>
                  <a:srgbClr val="5fcbef"/>
                </a:solidFill>
                <a:latin typeface="Trebuchet MS"/>
                <a:ea typeface="Trebuchet MS"/>
              </a:rPr>
              <a:t> </a:t>
            </a: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Trebuchet MS"/>
              </a:rPr>
              <a:t>Time (s)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 |    </a:t>
            </a: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Trebuchet MS"/>
              </a:rPr>
              <a:t>FPS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----------------------------------------------------------------------------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Teacher (ResNet101)                  | 85.43 %  |    11.91   |    840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Student (MobileNetV2 1.0x)       | 69.02 %  |      0.93   | 10729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Tiny Student (MobileNetV2 0.5x)| 67.86 %  |     0.55    | 18050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  <a:ea typeface="Trebuchet MS"/>
              </a:rPr>
              <a:t>-----------------------------------------------------------------------------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5fcbef"/>
                </a:solidFill>
                <a:latin typeface="Trebuchet MS"/>
                <a:ea typeface="Trebuchet MS"/>
              </a:rPr>
              <a:t>Note : </a:t>
            </a:r>
            <a:r>
              <a:rPr b="0" lang="en-US" sz="1800" spc="-1" strike="noStrike">
                <a:solidFill>
                  <a:srgbClr val="000000"/>
                </a:solidFill>
                <a:latin typeface="Trebuchet MS"/>
                <a:ea typeface="Trebuchet MS"/>
              </a:rPr>
              <a:t>The results are based on test dataset of 1000 images from cifar-100 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  <a:ea typeface="Trebuchet MS"/>
              </a:rPr>
              <a:t>   </a:t>
            </a:r>
            <a:r>
              <a:rPr b="0" lang="en-US" sz="1800" spc="-1" strike="noStrike">
                <a:solidFill>
                  <a:srgbClr val="000000"/>
                </a:solidFill>
                <a:latin typeface="Trebuchet MS"/>
                <a:ea typeface="Trebuchet MS"/>
              </a:rPr>
              <a:t>Results shown in the next slide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Content Placeholder 3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1164240"/>
            <a:ext cx="12194640" cy="569016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4" descr="A white background with black text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2160"/>
            <a:ext cx="12191760" cy="115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Content Placeholder 5" descr="A screenshot of a web page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1038600"/>
            <a:ext cx="12194280" cy="581724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4" descr="A white background with black text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2160"/>
            <a:ext cx="12191760" cy="115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4" descr="A white background with black text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2160"/>
            <a:ext cx="12191760" cy="1159560"/>
          </a:xfrm>
          <a:prstGeom prst="rect">
            <a:avLst/>
          </a:prstGeom>
          <a:ln w="0">
            <a:noFill/>
          </a:ln>
        </p:spPr>
      </p:pic>
      <p:pic>
        <p:nvPicPr>
          <p:cNvPr id="149" name="Content Placeholder 8" descr="A screenshot of a computer screen&#10;&#10;AI-generated content may be incorrect."/>
          <p:cNvPicPr/>
          <p:nvPr/>
        </p:nvPicPr>
        <p:blipFill>
          <a:blip r:embed="rId2"/>
          <a:stretch/>
        </p:blipFill>
        <p:spPr>
          <a:xfrm>
            <a:off x="-4680" y="1165680"/>
            <a:ext cx="12193560" cy="569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37320" y="115920"/>
            <a:ext cx="8596440" cy="71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6000"/>
          </a:bodyPr>
          <a:p>
            <a:pPr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f7698"/>
                </a:solidFill>
                <a:latin typeface="Trebuchet MS"/>
              </a:rPr>
              <a:t>Task 2A - Image Restoration</a:t>
            </a:r>
            <a:br>
              <a:rPr sz="3600"/>
            </a:b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337320" y="1160640"/>
            <a:ext cx="9708840" cy="3515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Setup: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Teacher: SwinIR (transformer-based)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Student: AttentionStudentSRNet (compact)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Loss: L1 + Feature matching + Perceptual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Key Result: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Student: 25.79 dB (+2.76 dB vs. baseline)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86% gap closed to teacher (27.26 dB)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5.4% performance loss with significant compression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498960" y="672480"/>
            <a:ext cx="6042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f7698"/>
                </a:solidFill>
                <a:latin typeface="Trebuchet MS"/>
              </a:rPr>
              <a:t>Image Super-Resolution (4× Upscaling) – Dataset DIV2K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3" name="Picture 4" descr=""/>
          <p:cNvPicPr/>
          <p:nvPr/>
        </p:nvPicPr>
        <p:blipFill>
          <a:blip r:embed="rId1"/>
          <a:stretch/>
        </p:blipFill>
        <p:spPr>
          <a:xfrm>
            <a:off x="498960" y="4676040"/>
            <a:ext cx="9328320" cy="204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89600" y="187560"/>
            <a:ext cx="8596440" cy="515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9000"/>
          </a:bodyPr>
          <a:p>
            <a:pPr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rgbClr val="0f7698"/>
                </a:solidFill>
                <a:latin typeface="Trebuchet MS"/>
              </a:rPr>
              <a:t>Task 2B - Edge Detection</a:t>
            </a:r>
            <a:br>
              <a:rPr sz="3600"/>
            </a:br>
            <a:r>
              <a:rPr b="0" lang="en-IN" sz="2000" spc="-1" strike="noStrike">
                <a:solidFill>
                  <a:srgbClr val="0f7698"/>
                </a:solidFill>
                <a:latin typeface="Trebuchet MS"/>
              </a:rPr>
              <a:t>Method description left, qualitative results + Dice score comparison right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784000" cy="430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Setup: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Teacher: U-Net + ResNet34 backbone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Student: U-Net + MobileNetV2 (50-60% smaller)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Loss: Weighted BCE + Soft target MSE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rgbClr val="404040"/>
                </a:solidFill>
                <a:latin typeface="Trebuchet MS"/>
              </a:rPr>
              <a:t>Key Result</a:t>
            </a: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Student: 0.7226 Dice (99.4% of teacher)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+2.54% improvement vs. baseline (0.7047)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8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rgbClr val="404040"/>
                </a:solidFill>
                <a:latin typeface="Trebuchet MS"/>
              </a:rPr>
              <a:t>Handles class imbalance effectively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567720" y="1122480"/>
            <a:ext cx="5896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f7698"/>
                </a:solidFill>
                <a:latin typeface="Trebuchet MS"/>
              </a:rPr>
              <a:t>Dataset - BSDS500 (Berkeley Segmentation Dataset)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pic>
        <p:nvPicPr>
          <p:cNvPr id="158" name="Picture 4" descr="A collage of images of two people&#10;&#10;AI-generated content may be incorrect."/>
          <p:cNvPicPr/>
          <p:nvPr/>
        </p:nvPicPr>
        <p:blipFill>
          <a:blip r:embed="rId1"/>
          <a:stretch/>
        </p:blipFill>
        <p:spPr>
          <a:xfrm>
            <a:off x="-2520" y="4997880"/>
            <a:ext cx="10524600" cy="185688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5" descr="A collage of images of two people&#10;&#10;AI-generated content may be incorrect."/>
          <p:cNvPicPr/>
          <p:nvPr/>
        </p:nvPicPr>
        <p:blipFill>
          <a:blip r:embed="rId2"/>
          <a:stretch/>
        </p:blipFill>
        <p:spPr>
          <a:xfrm>
            <a:off x="-2520" y="1801800"/>
            <a:ext cx="9173160" cy="3258360"/>
          </a:xfrm>
          <a:prstGeom prst="rect">
            <a:avLst/>
          </a:prstGeom>
          <a:ln w="0">
            <a:noFill/>
          </a:ln>
        </p:spPr>
      </p:pic>
      <p:pic>
        <p:nvPicPr>
          <p:cNvPr id="160" name="Picture 6" descr="A close-up of a map&#10;&#10;AI-generated content may be incorrect."/>
          <p:cNvPicPr/>
          <p:nvPr/>
        </p:nvPicPr>
        <p:blipFill>
          <a:blip r:embed="rId3"/>
          <a:stretch/>
        </p:blipFill>
        <p:spPr>
          <a:xfrm>
            <a:off x="-2520" y="2520"/>
            <a:ext cx="10524600" cy="185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168</TotalTime>
  <Application>LibreOffice/7.3.7.2$Linux_X86_64 LibreOffice_project/30$Build-2</Application>
  <AppVersion>15.0000</AppVersion>
  <Words>1329</Words>
  <Paragraphs>159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2025-11-20T10:02:37Z</dcterms:created>
  <dc:creator>SURYAA THIRUMURUGAN</dc:creator>
  <dc:description/>
  <dc:language>en-US</dc:language>
  <cp:lastModifiedBy/>
  <dcterms:modified xsi:type="dcterms:W3CDTF">2025-11-28T19:19:17Z</dcterms:modified>
  <cp:revision>123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